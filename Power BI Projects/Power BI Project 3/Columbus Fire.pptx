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9" r:id="rId3"/>
    <p:sldId id="261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93" autoAdjust="0"/>
    <p:restoredTop sz="94660"/>
  </p:normalViewPr>
  <p:slideViewPr>
    <p:cSldViewPr snapToGrid="0">
      <p:cViewPr varScale="1">
        <p:scale>
          <a:sx n="48" d="100"/>
          <a:sy n="48" d="100"/>
        </p:scale>
        <p:origin x="115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660F46-D277-44EA-AA0C-C346E12B06A9}" type="datetimeFigureOut">
              <a:rPr lang="en-US" smtClean="0"/>
              <a:t>9/24/2025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5F568A-2482-4087-AC47-E9D345C81E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5916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5F568A-2482-4087-AC47-E9D345C81EE2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17649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11044-C9E5-9C10-2AB9-7C29454FA5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46AC76-8DC5-1DEA-A2DC-AEFE469CE1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3D6AA8-9CA3-E7CA-1B5A-D559DC6B9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699D3-1D58-4B6D-8457-673C0F7598CE}" type="datetimeFigureOut">
              <a:rPr lang="en-US" smtClean="0"/>
              <a:t>9/24/2025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A20EE3-2909-3121-CF14-2627B55A5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F8201A-81E7-4D4F-EC64-0831C0C76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6161-425E-4B3A-8BAD-AFAA754BAA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2792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BED82-D288-FE51-ACE5-C00C6F45A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23730-93C7-2006-F68A-C502AC246D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9D1FBA-65DA-2346-7B40-181CB4D11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699D3-1D58-4B6D-8457-673C0F7598CE}" type="datetimeFigureOut">
              <a:rPr lang="en-US" smtClean="0"/>
              <a:t>9/24/2025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43F9EC-BA82-8B27-D63B-A65FFE4E5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B5960B-2ECD-A7B7-3575-022C60CA5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6161-425E-4B3A-8BAD-AFAA754BAA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748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AFD00-0CF5-090F-BB7F-8043EF8B1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FFFDD-92C5-8EE9-5D36-FDF37578BE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2A230F-EFD8-CE33-4618-FB305482F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699D3-1D58-4B6D-8457-673C0F7598CE}" type="datetimeFigureOut">
              <a:rPr lang="en-US" smtClean="0"/>
              <a:t>9/24/2025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F596A8-575D-1E50-328B-3D7C1D35E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0ED2B-332F-EDC4-7C86-7A9F23788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6161-425E-4B3A-8BAD-AFAA754BAA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28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1DBA6-56F8-DB04-B79C-42BCCBF59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098048-9DEE-7DEA-63CA-936E5C985D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92A47C-BF4D-0502-9679-BE7F8CA798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75165B-A9DC-EF59-9349-1693983DE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699D3-1D58-4B6D-8457-673C0F7598CE}" type="datetimeFigureOut">
              <a:rPr lang="en-US" smtClean="0"/>
              <a:t>9/24/2025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C12BA6-0C09-D67B-E570-858D7F6AC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966894-B153-E9D3-758C-EF2FCA190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6161-425E-4B3A-8BAD-AFAA754BAA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5570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F70F6-FCAC-4537-7AFB-214F72343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3F168F-06E2-2975-BA0A-F7611354AB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816699-AB1F-5CEF-4926-5B258AC8EA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A3C7F5-6E5D-A279-5B93-700414A4F4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C2C399-1716-1640-99DC-2459DB1CF4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32480E-8BF7-C417-3028-F197607A2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699D3-1D58-4B6D-8457-673C0F7598CE}" type="datetimeFigureOut">
              <a:rPr lang="en-US" smtClean="0"/>
              <a:t>9/24/2025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50DE55-B9CC-B5D2-328F-30C873FAA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4204DF-5F19-9E05-6948-451F4EFEB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6161-425E-4B3A-8BAD-AFAA754BAA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1945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00FE2-98D9-CC3E-7548-D4266A0EC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20FD18-E325-ADDD-26AA-1C3446955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699D3-1D58-4B6D-8457-673C0F7598CE}" type="datetimeFigureOut">
              <a:rPr lang="en-US" smtClean="0"/>
              <a:t>9/24/2025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C2A38-6362-470C-DF2C-F7FB40F51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A062D4-3184-AEE4-DDD7-2475C886F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6161-425E-4B3A-8BAD-AFAA754BAA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5187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EE2AF4-A733-2EE6-985D-255AE6CA9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699D3-1D58-4B6D-8457-673C0F7598CE}" type="datetimeFigureOut">
              <a:rPr lang="en-US" smtClean="0"/>
              <a:t>9/24/2025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458D9F-6B13-A73F-EF06-8DA8DFF1E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60508D-8ED5-D6FD-FCFA-AB41EA1B6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6161-425E-4B3A-8BAD-AFAA754BAA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3097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4B433-8727-DCE0-02C6-FEF4E41ED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CEDB73-17E8-22EE-2CEC-43EBD81C8D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CF208A-C165-2B86-123F-4D0F78034A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2FD8B3-7F52-463F-0678-A86D75ED8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699D3-1D58-4B6D-8457-673C0F7598CE}" type="datetimeFigureOut">
              <a:rPr lang="en-US" smtClean="0"/>
              <a:t>9/24/2025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2B4F94-003D-CC43-EF22-11C02ADD2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A522BF-61D6-566A-D338-DCC46B9C3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6161-425E-4B3A-8BAD-AFAA754BAA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303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6BF37-B762-C17D-7BD1-05C6B597F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043697-2D20-0314-8F3B-4D7FBDBE8B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A2FC56-201B-4398-8A62-D895E17BAE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5EC5B3-2C69-5750-0B08-27C7B9E29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699D3-1D58-4B6D-8457-673C0F7598CE}" type="datetimeFigureOut">
              <a:rPr lang="en-US" smtClean="0"/>
              <a:t>9/24/2025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486DFA-7A47-B142-BC9E-88952E732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6667E8-274C-12A0-9B11-4605961F2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6161-425E-4B3A-8BAD-AFAA754BAA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3588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CB103-243D-09B9-5712-EEB2CAA70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23AEBF-301C-852D-C427-E8F77268DC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EDA84A-2D4A-7F89-BC9E-05352F4A7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699D3-1D58-4B6D-8457-673C0F7598CE}" type="datetimeFigureOut">
              <a:rPr lang="en-US" smtClean="0"/>
              <a:t>9/24/2025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CC6F3-2D49-B416-2710-A64F4A902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C86408-0C4B-604A-FB94-007B1E5A8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6161-425E-4B3A-8BAD-AFAA754BAA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0642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94E4AD-079C-8DB4-B626-50726AC724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8ECA0C-5934-13DC-A9BF-6D5F42D2D4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85150B-5490-425D-B033-6536E943F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699D3-1D58-4B6D-8457-673C0F7598CE}" type="datetimeFigureOut">
              <a:rPr lang="en-US" smtClean="0"/>
              <a:t>9/24/2025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C281F7-EC34-7256-09EC-2C331F60C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DC6986-B485-AE19-4FCD-A922F787E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6161-425E-4B3A-8BAD-AFAA754BAA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6665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8F788B-921E-2256-DA8F-A3DFD2A85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05B9C5-0A27-DF1D-C4ED-DF712D8B69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24DDE4-8EBD-5336-362E-EF7E69A7C0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4699D3-1D58-4B6D-8457-673C0F7598CE}" type="datetimeFigureOut">
              <a:rPr lang="en-US" smtClean="0"/>
              <a:t>9/24/2025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463857-797F-B361-3DA2-5B89509C83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65F322-7CC5-FAF5-794D-91AC2A5523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636161-425E-4B3A-8BAD-AFAA754BAA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1728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1B3D5F-6360-D817-CD07-BA3ADA9090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0338" y="640080"/>
            <a:ext cx="3734014" cy="3566160"/>
          </a:xfrm>
        </p:spPr>
        <p:txBody>
          <a:bodyPr anchor="b">
            <a:normAutofit/>
          </a:bodyPr>
          <a:lstStyle/>
          <a:p>
            <a:pPr algn="l"/>
            <a:r>
              <a:rPr lang="en-US" sz="5400" dirty="0"/>
              <a:t>Columbus Fire and Rescue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9D52F9-464B-B27E-955D-F67635A02A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0339" y="4636008"/>
            <a:ext cx="3734014" cy="1572768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By Abhinav Myadala</a:t>
            </a:r>
          </a:p>
        </p:txBody>
      </p:sp>
      <p:sp>
        <p:nvSpPr>
          <p:cNvPr id="16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0338" y="4409267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Fire extinguisher and hose reel in hotel corridor">
            <a:extLst>
              <a:ext uri="{FF2B5EF4-FFF2-40B4-BE49-F238E27FC236}">
                <a16:creationId xmlns:a16="http://schemas.microsoft.com/office/drawing/2014/main" id="{D8F78EAB-A706-68DB-5EB9-4B2ABED262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229" r="26818" b="-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248582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7B8CB8-26CE-B37E-3075-5DC3A465D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Incident Trend Over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0E4FB-FFDF-D6B7-4EC6-2FEB811204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882" y="4631161"/>
            <a:ext cx="3571810" cy="155932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b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sz="24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6D2A3FD-5DAB-0744-86ED-3AAA1802CB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5708033"/>
              </p:ext>
            </p:extLst>
          </p:nvPr>
        </p:nvGraphicFramePr>
        <p:xfrm>
          <a:off x="4654296" y="788702"/>
          <a:ext cx="7214619" cy="5253165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321166">
                  <a:extLst>
                    <a:ext uri="{9D8B030D-6E8A-4147-A177-3AD203B41FA5}">
                      <a16:colId xmlns:a16="http://schemas.microsoft.com/office/drawing/2014/main" val="1349247156"/>
                    </a:ext>
                  </a:extLst>
                </a:gridCol>
                <a:gridCol w="1778203">
                  <a:extLst>
                    <a:ext uri="{9D8B030D-6E8A-4147-A177-3AD203B41FA5}">
                      <a16:colId xmlns:a16="http://schemas.microsoft.com/office/drawing/2014/main" val="2717804877"/>
                    </a:ext>
                  </a:extLst>
                </a:gridCol>
                <a:gridCol w="1557625">
                  <a:extLst>
                    <a:ext uri="{9D8B030D-6E8A-4147-A177-3AD203B41FA5}">
                      <a16:colId xmlns:a16="http://schemas.microsoft.com/office/drawing/2014/main" val="3890550383"/>
                    </a:ext>
                  </a:extLst>
                </a:gridCol>
                <a:gridCol w="1557625">
                  <a:extLst>
                    <a:ext uri="{9D8B030D-6E8A-4147-A177-3AD203B41FA5}">
                      <a16:colId xmlns:a16="http://schemas.microsoft.com/office/drawing/2014/main" val="949750789"/>
                    </a:ext>
                  </a:extLst>
                </a:gridCol>
              </a:tblGrid>
              <a:tr h="904033">
                <a:tc>
                  <a:txBody>
                    <a:bodyPr/>
                    <a:lstStyle/>
                    <a:p>
                      <a:r>
                        <a:rPr lang="en-US" sz="2400" dirty="0"/>
                        <a:t>Incident  Over Time</a:t>
                      </a:r>
                    </a:p>
                  </a:txBody>
                  <a:tcPr marL="122167" marR="122167" marT="61083" marB="6108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2022</a:t>
                      </a:r>
                    </a:p>
                  </a:txBody>
                  <a:tcPr marL="122167" marR="122167" marT="61083" marB="61083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2023</a:t>
                      </a:r>
                    </a:p>
                    <a:p>
                      <a:endParaRPr lang="en-US" sz="2400" dirty="0"/>
                    </a:p>
                  </a:txBody>
                  <a:tcPr marL="122167" marR="122167" marT="61083" marB="61083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2024</a:t>
                      </a:r>
                    </a:p>
                    <a:p>
                      <a:endParaRPr lang="en-US" sz="2400" dirty="0"/>
                    </a:p>
                  </a:txBody>
                  <a:tcPr marL="122167" marR="122167" marT="61083" marB="61083"/>
                </a:tc>
                <a:extLst>
                  <a:ext uri="{0D108BD9-81ED-4DB2-BD59-A6C34878D82A}">
                    <a16:rowId xmlns:a16="http://schemas.microsoft.com/office/drawing/2014/main" val="1903650200"/>
                  </a:ext>
                </a:extLst>
              </a:tr>
              <a:tr h="1270533">
                <a:tc>
                  <a:txBody>
                    <a:bodyPr/>
                    <a:lstStyle/>
                    <a:p>
                      <a:r>
                        <a:rPr lang="en-US" sz="2400" dirty="0"/>
                        <a:t>Weekday with Highest Incidents</a:t>
                      </a:r>
                    </a:p>
                  </a:txBody>
                  <a:tcPr marL="122167" marR="122167" marT="61083" marB="61083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 Thursday</a:t>
                      </a:r>
                    </a:p>
                  </a:txBody>
                  <a:tcPr marL="122167" marR="122167" marT="61083" marB="61083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Monday</a:t>
                      </a:r>
                    </a:p>
                  </a:txBody>
                  <a:tcPr marL="122167" marR="122167" marT="61083" marB="61083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Monday</a:t>
                      </a:r>
                    </a:p>
                  </a:txBody>
                  <a:tcPr marL="122167" marR="122167" marT="61083" marB="61083"/>
                </a:tc>
                <a:extLst>
                  <a:ext uri="{0D108BD9-81ED-4DB2-BD59-A6C34878D82A}">
                    <a16:rowId xmlns:a16="http://schemas.microsoft.com/office/drawing/2014/main" val="562502370"/>
                  </a:ext>
                </a:extLst>
              </a:tr>
              <a:tr h="12705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Day of Month with Highest Incidents</a:t>
                      </a:r>
                    </a:p>
                  </a:txBody>
                  <a:tcPr marL="122167" marR="122167" marT="61083" marB="61083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24 Day of Month</a:t>
                      </a:r>
                    </a:p>
                  </a:txBody>
                  <a:tcPr marL="122167" marR="122167" marT="61083" marB="61083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4 Day of Month</a:t>
                      </a:r>
                    </a:p>
                  </a:txBody>
                  <a:tcPr marL="122167" marR="122167" marT="61083" marB="61083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 Day of Month</a:t>
                      </a:r>
                    </a:p>
                  </a:txBody>
                  <a:tcPr marL="122167" marR="122167" marT="61083" marB="61083"/>
                </a:tc>
                <a:extLst>
                  <a:ext uri="{0D108BD9-81ED-4DB2-BD59-A6C34878D82A}">
                    <a16:rowId xmlns:a16="http://schemas.microsoft.com/office/drawing/2014/main" val="4161423773"/>
                  </a:ext>
                </a:extLst>
              </a:tr>
              <a:tr h="12705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Month with Highest Incidents</a:t>
                      </a:r>
                    </a:p>
                  </a:txBody>
                  <a:tcPr marL="122167" marR="122167" marT="61083" marB="61083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July</a:t>
                      </a:r>
                    </a:p>
                  </a:txBody>
                  <a:tcPr marL="122167" marR="122167" marT="61083" marB="61083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August</a:t>
                      </a:r>
                    </a:p>
                  </a:txBody>
                  <a:tcPr marL="122167" marR="122167" marT="61083" marB="61083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January</a:t>
                      </a:r>
                    </a:p>
                  </a:txBody>
                  <a:tcPr marL="122167" marR="122167" marT="61083" marB="61083"/>
                </a:tc>
                <a:extLst>
                  <a:ext uri="{0D108BD9-81ED-4DB2-BD59-A6C34878D82A}">
                    <a16:rowId xmlns:a16="http://schemas.microsoft.com/office/drawing/2014/main" val="3271478055"/>
                  </a:ext>
                </a:extLst>
              </a:tr>
              <a:tr h="537533">
                <a:tc>
                  <a:txBody>
                    <a:bodyPr/>
                    <a:lstStyle/>
                    <a:p>
                      <a:r>
                        <a:rPr lang="en-US" sz="2400" dirty="0"/>
                        <a:t>Year Totals</a:t>
                      </a:r>
                    </a:p>
                  </a:txBody>
                  <a:tcPr marL="122167" marR="122167" marT="61083" marB="61083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31,217</a:t>
                      </a:r>
                    </a:p>
                  </a:txBody>
                  <a:tcPr marL="122167" marR="122167" marT="61083" marB="61083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30,469</a:t>
                      </a:r>
                    </a:p>
                  </a:txBody>
                  <a:tcPr marL="122167" marR="122167" marT="61083" marB="61083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31,395</a:t>
                      </a:r>
                    </a:p>
                  </a:txBody>
                  <a:tcPr marL="122167" marR="122167" marT="61083" marB="61083"/>
                </a:tc>
                <a:extLst>
                  <a:ext uri="{0D108BD9-81ED-4DB2-BD59-A6C34878D82A}">
                    <a16:rowId xmlns:a16="http://schemas.microsoft.com/office/drawing/2014/main" val="1365955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97002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FEF085B8-A2C0-4A6F-B663-CCC56F3CD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Freeform 13">
            <a:extLst>
              <a:ext uri="{FF2B5EF4-FFF2-40B4-BE49-F238E27FC236}">
                <a16:creationId xmlns:a16="http://schemas.microsoft.com/office/drawing/2014/main" id="{2658F6D6-96E0-421A-96D6-3DF4040085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Freeform 11">
            <a:extLst>
              <a:ext uri="{FF2B5EF4-FFF2-40B4-BE49-F238E27FC236}">
                <a16:creationId xmlns:a16="http://schemas.microsoft.com/office/drawing/2014/main" id="{3CF62545-93A0-4FD5-9B48-48DCA794CB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706074-060D-7A6E-283E-EEF90A5E5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Top 20 Incident Types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E7438F-14E5-7A24-5D76-F7B66170AE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0833"/>
            <a:ext cx="5096934" cy="4166130"/>
          </a:xfrm>
        </p:spPr>
        <p:txBody>
          <a:bodyPr vert="horz" lIns="91440" tIns="45720" rIns="91440" bIns="45720" rtlCol="0">
            <a:normAutofit/>
          </a:bodyPr>
          <a:lstStyle/>
          <a:p>
            <a:pPr marL="0"/>
            <a:r>
              <a:rPr lang="en-US" sz="1700" dirty="0"/>
              <a:t>111- Building Fire</a:t>
            </a:r>
          </a:p>
          <a:p>
            <a:pPr marL="0"/>
            <a:r>
              <a:rPr lang="en-US" sz="1700" dirty="0"/>
              <a:t>113 - Cooking Fire , Confined to Container</a:t>
            </a:r>
          </a:p>
          <a:p>
            <a:pPr marL="0"/>
            <a:r>
              <a:rPr lang="en-US" sz="1700" dirty="0"/>
              <a:t>118 - Trash or rubbish fire, contained</a:t>
            </a:r>
          </a:p>
          <a:p>
            <a:pPr marL="0"/>
            <a:r>
              <a:rPr lang="en-US" sz="1700" dirty="0"/>
              <a:t>131- Passenger vehicle fire</a:t>
            </a:r>
          </a:p>
          <a:p>
            <a:pPr marL="0"/>
            <a:r>
              <a:rPr lang="en-US" sz="1700" dirty="0"/>
              <a:t>150 - Outside rubbish fire, Other</a:t>
            </a:r>
          </a:p>
          <a:p>
            <a:pPr marL="0"/>
            <a:r>
              <a:rPr lang="en-US" sz="1700" dirty="0"/>
              <a:t>151 - Outside Rubbish, trash or waste fire</a:t>
            </a:r>
          </a:p>
          <a:p>
            <a:pPr marL="0"/>
            <a:r>
              <a:rPr lang="en-US" sz="1700" dirty="0"/>
              <a:t>321 - EMS Call , Excluding Vehicle Accident with Injury</a:t>
            </a:r>
          </a:p>
          <a:p>
            <a:pPr marL="0"/>
            <a:r>
              <a:rPr lang="en-US" sz="1700" dirty="0"/>
              <a:t>322 - Motor Vehicle Accident with injuries</a:t>
            </a:r>
          </a:p>
          <a:p>
            <a:pPr marL="0"/>
            <a:r>
              <a:rPr lang="en-US" sz="1700" dirty="0"/>
              <a:t>324 - Motor vehicle Accident with no injuries </a:t>
            </a:r>
          </a:p>
          <a:p>
            <a:pPr marL="0"/>
            <a:r>
              <a:rPr lang="en-US" sz="1700" dirty="0"/>
              <a:t>440 - Electrical wiring / Equipment problem, other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D3915B6-9459-6918-3879-D595825EB740}"/>
              </a:ext>
            </a:extLst>
          </p:cNvPr>
          <p:cNvSpPr txBox="1">
            <a:spLocks/>
          </p:cNvSpPr>
          <p:nvPr/>
        </p:nvSpPr>
        <p:spPr>
          <a:xfrm>
            <a:off x="6256866" y="2010833"/>
            <a:ext cx="5096933" cy="41661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/>
            <a:r>
              <a:rPr lang="en-US" sz="1700" dirty="0"/>
              <a:t>531 - Smoke or odor removal</a:t>
            </a:r>
          </a:p>
          <a:p>
            <a:pPr marL="0"/>
            <a:r>
              <a:rPr lang="en-US" sz="1700" dirty="0"/>
              <a:t>550 - Public Service Assistance, other</a:t>
            </a:r>
          </a:p>
          <a:p>
            <a:pPr marL="0"/>
            <a:r>
              <a:rPr lang="en-US" sz="1700" dirty="0"/>
              <a:t>600 - Good Intent Call , Other</a:t>
            </a:r>
          </a:p>
          <a:p>
            <a:pPr marL="0"/>
            <a:r>
              <a:rPr lang="en-US" sz="1700" dirty="0"/>
              <a:t>611 - Dispatched and cancelled enroute</a:t>
            </a:r>
          </a:p>
          <a:p>
            <a:pPr marL="0"/>
            <a:r>
              <a:rPr lang="en-US" sz="1700" dirty="0"/>
              <a:t>651 - Smoke scare, Odor of smoke </a:t>
            </a:r>
          </a:p>
          <a:p>
            <a:pPr marL="0"/>
            <a:r>
              <a:rPr lang="en-US" sz="1700" dirty="0"/>
              <a:t>700 - False Alarm or false call, Other</a:t>
            </a:r>
          </a:p>
          <a:p>
            <a:pPr marL="0"/>
            <a:r>
              <a:rPr lang="en-US" sz="1700" dirty="0"/>
              <a:t>735 - Alarm system Sounded due to malfunction</a:t>
            </a:r>
          </a:p>
          <a:p>
            <a:pPr marL="0"/>
            <a:r>
              <a:rPr lang="en-US" sz="1700" dirty="0"/>
              <a:t>740 - Unintentional Transmission of alarm ,other</a:t>
            </a:r>
          </a:p>
          <a:p>
            <a:pPr marL="0"/>
            <a:r>
              <a:rPr lang="en-US" sz="1700" dirty="0"/>
              <a:t>743 - Smoke Detector Activation, no fire- unintentional</a:t>
            </a:r>
          </a:p>
          <a:p>
            <a:pPr marL="0"/>
            <a:r>
              <a:rPr lang="en-US" sz="1700" dirty="0"/>
              <a:t>745 - Alarm System Activation, not fire-unintentional </a:t>
            </a:r>
          </a:p>
        </p:txBody>
      </p:sp>
    </p:spTree>
    <p:extLst>
      <p:ext uri="{BB962C8B-B14F-4D97-AF65-F5344CB8AC3E}">
        <p14:creationId xmlns:p14="http://schemas.microsoft.com/office/powerpoint/2010/main" val="7074476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6F8A1F-EA9B-0C43-9BCD-083D58D28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000" dirty="0"/>
              <a:t>High Risk Areas</a:t>
            </a:r>
            <a:br>
              <a:rPr lang="en-US" sz="5000" dirty="0"/>
            </a:br>
            <a:endParaRPr lang="en-US" sz="5000" dirty="0"/>
          </a:p>
        </p:txBody>
      </p:sp>
      <p:sp>
        <p:nvSpPr>
          <p:cNvPr id="19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411F7-E30D-88BC-D023-8668DA411D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The high-risk areas change based on the location of the stations. </a:t>
            </a:r>
            <a:r>
              <a:rPr lang="en-US" sz="2400"/>
              <a:t>For example, by looking at the incidents reported by Station 10, you can determine that the high-risk area is Benning Hills.</a:t>
            </a:r>
            <a:endParaRPr lang="en-US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855961-C680-ECCF-2993-85A067D675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181" r="13123" b="-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1444230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648</TotalTime>
  <Words>250</Words>
  <Application>Microsoft Office PowerPoint</Application>
  <PresentationFormat>Widescreen</PresentationFormat>
  <Paragraphs>48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Columbus Fire and Rescue</vt:lpstr>
      <vt:lpstr>Incident Trend Over Time</vt:lpstr>
      <vt:lpstr>Top 20 Incident Types </vt:lpstr>
      <vt:lpstr>High Risk Areas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avi mya</dc:creator>
  <cp:lastModifiedBy>avi mya</cp:lastModifiedBy>
  <cp:revision>8</cp:revision>
  <dcterms:created xsi:type="dcterms:W3CDTF">2025-09-24T01:46:04Z</dcterms:created>
  <dcterms:modified xsi:type="dcterms:W3CDTF">2025-09-25T03:29:55Z</dcterms:modified>
</cp:coreProperties>
</file>